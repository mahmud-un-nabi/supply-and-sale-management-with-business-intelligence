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59254" y="3206622"/>
            <a:ext cx="3694429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143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Bangladesh-</a:t>
            </a:r>
            <a:r>
              <a:rPr dirty="0" sz="1200" b="1">
                <a:latin typeface="Times New Roman"/>
                <a:cs typeface="Times New Roman"/>
              </a:rPr>
              <a:t>Korea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Information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Access</a:t>
            </a:r>
            <a:r>
              <a:rPr dirty="0" sz="1200" spc="-10" b="1">
                <a:latin typeface="Times New Roman"/>
                <a:cs typeface="Times New Roman"/>
              </a:rPr>
              <a:t> Center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40"/>
              </a:spcBef>
            </a:pPr>
            <a:r>
              <a:rPr dirty="0" sz="1200" b="1">
                <a:latin typeface="Times New Roman"/>
                <a:cs typeface="Times New Roman"/>
              </a:rPr>
              <a:t>Department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Computer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Science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Engineering,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BUET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02634" y="4265803"/>
            <a:ext cx="1231900" cy="91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Business</a:t>
            </a:r>
            <a:r>
              <a:rPr dirty="0" sz="1200" spc="-10" b="1">
                <a:latin typeface="Times New Roman"/>
                <a:cs typeface="Times New Roman"/>
              </a:rPr>
              <a:t> Analytics</a:t>
            </a:r>
            <a:endParaRPr sz="1200">
              <a:latin typeface="Times New Roman"/>
              <a:cs typeface="Times New Roman"/>
            </a:endParaRPr>
          </a:p>
          <a:p>
            <a:pPr algn="ctr" marL="62865">
              <a:lnSpc>
                <a:spcPct val="100000"/>
              </a:lnSpc>
              <a:spcBef>
                <a:spcPts val="1340"/>
              </a:spcBef>
            </a:pPr>
            <a:r>
              <a:rPr dirty="0" sz="1200" b="1">
                <a:latin typeface="Times New Roman"/>
                <a:cs typeface="Times New Roman"/>
              </a:rPr>
              <a:t>IAC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 </a:t>
            </a:r>
            <a:r>
              <a:rPr dirty="0" sz="1200" spc="-25" b="1">
                <a:latin typeface="Times New Roman"/>
                <a:cs typeface="Times New Roman"/>
              </a:rPr>
              <a:t>31</a:t>
            </a:r>
            <a:endParaRPr sz="1200">
              <a:latin typeface="Times New Roman"/>
              <a:cs typeface="Times New Roman"/>
            </a:endParaRPr>
          </a:p>
          <a:p>
            <a:pPr algn="ctr" marL="59690">
              <a:lnSpc>
                <a:spcPct val="100000"/>
              </a:lnSpc>
              <a:spcBef>
                <a:spcPts val="1335"/>
              </a:spcBef>
            </a:pPr>
            <a:r>
              <a:rPr dirty="0" sz="1200" b="1">
                <a:latin typeface="Times New Roman"/>
                <a:cs typeface="Times New Roman"/>
              </a:rPr>
              <a:t>Case</a:t>
            </a:r>
            <a:r>
              <a:rPr dirty="0" sz="1200" spc="-20" b="1">
                <a:latin typeface="Times New Roman"/>
                <a:cs typeface="Times New Roman"/>
              </a:rPr>
              <a:t> Study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78834" y="6030848"/>
            <a:ext cx="1210310" cy="915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Submitted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by</a:t>
            </a:r>
            <a:endParaRPr sz="1200">
              <a:latin typeface="Times New Roman"/>
              <a:cs typeface="Times New Roman"/>
            </a:endParaRPr>
          </a:p>
          <a:p>
            <a:pPr algn="ctr" marL="12700" marR="5080">
              <a:lnSpc>
                <a:spcPct val="193300"/>
              </a:lnSpc>
            </a:pPr>
            <a:r>
              <a:rPr dirty="0" sz="1200" b="1">
                <a:latin typeface="Times New Roman"/>
                <a:cs typeface="Times New Roman"/>
              </a:rPr>
              <a:t>Mahmud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Un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Nabi </a:t>
            </a:r>
            <a:r>
              <a:rPr dirty="0" sz="1200" b="1">
                <a:latin typeface="Times New Roman"/>
                <a:cs typeface="Times New Roman"/>
              </a:rPr>
              <a:t>ID: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26435" y="7443978"/>
            <a:ext cx="1417320" cy="1267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89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Submitted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  <a:p>
            <a:pPr algn="ctr" marL="50800" marR="5080">
              <a:lnSpc>
                <a:spcPct val="192500"/>
              </a:lnSpc>
              <a:spcBef>
                <a:spcPts val="10"/>
              </a:spcBef>
            </a:pPr>
            <a:r>
              <a:rPr dirty="0" sz="1200" b="1">
                <a:latin typeface="Times New Roman"/>
                <a:cs typeface="Times New Roman"/>
              </a:rPr>
              <a:t>AKM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Mehedi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Hasan Lecturer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 b="1">
                <a:latin typeface="Times New Roman"/>
                <a:cs typeface="Times New Roman"/>
              </a:rPr>
              <a:t>Dept.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CSE,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BUET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45" y="914400"/>
            <a:ext cx="1686424" cy="21374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5"/>
            <a:ext cx="5970270" cy="156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Abstract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  <a:spcBef>
                <a:spcPts val="1170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analyzes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retail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chain,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focusing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key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(I00152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I00184), </a:t>
            </a:r>
            <a:r>
              <a:rPr dirty="0" sz="1200">
                <a:latin typeface="Times New Roman"/>
                <a:cs typeface="Times New Roman"/>
              </a:rPr>
              <a:t>store</a:t>
            </a:r>
            <a:r>
              <a:rPr dirty="0" sz="1200" spc="4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4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S0035,</a:t>
            </a:r>
            <a:r>
              <a:rPr dirty="0" sz="1200" spc="4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customers,</a:t>
            </a:r>
            <a:r>
              <a:rPr dirty="0" sz="1200" spc="48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4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transaction</a:t>
            </a:r>
            <a:r>
              <a:rPr dirty="0" sz="1200" spc="4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methods.</a:t>
            </a:r>
            <a:r>
              <a:rPr dirty="0" sz="1200" spc="48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48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descriptive,</a:t>
            </a:r>
            <a:r>
              <a:rPr dirty="0" sz="1200" spc="4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predictive,</a:t>
            </a:r>
            <a:r>
              <a:rPr dirty="0" sz="1200" spc="49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prescriptive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techniques,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have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uncovered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patterns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sales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performance,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forecast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future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trends,</a:t>
            </a:r>
            <a:r>
              <a:rPr dirty="0" sz="1200" spc="-25">
                <a:latin typeface="Times New Roman"/>
                <a:cs typeface="Times New Roman"/>
              </a:rPr>
              <a:t> and </a:t>
            </a:r>
            <a:r>
              <a:rPr dirty="0" sz="1200" spc="-10">
                <a:latin typeface="Times New Roman"/>
                <a:cs typeface="Times New Roman"/>
              </a:rPr>
              <a:t>recommend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strategies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optimize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revenue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operations.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findings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urban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dominance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sales,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80/20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rule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customers,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potential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revenue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uplifts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targeted discounts.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2984118"/>
            <a:ext cx="5575300" cy="1163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165100" algn="l"/>
              </a:tabLst>
            </a:pPr>
            <a:r>
              <a:rPr dirty="0" sz="1200">
                <a:latin typeface="Times New Roman"/>
                <a:cs typeface="Times New Roman"/>
              </a:rPr>
              <a:t>Analyze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performance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metrics.</a:t>
            </a:r>
            <a:endParaRPr sz="1200">
              <a:latin typeface="Times New Roman"/>
              <a:cs typeface="Times New Roman"/>
            </a:endParaRPr>
          </a:p>
          <a:p>
            <a:pPr marL="166370" indent="-15367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66370" algn="l"/>
              </a:tabLst>
            </a:pPr>
            <a:r>
              <a:rPr dirty="0" sz="1200">
                <a:latin typeface="Times New Roman"/>
                <a:cs typeface="Times New Roman"/>
              </a:rPr>
              <a:t>Identify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correlations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datasets.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165100" algn="l"/>
              </a:tabLst>
            </a:pP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data-</a:t>
            </a:r>
            <a:r>
              <a:rPr dirty="0" sz="1200">
                <a:latin typeface="Times New Roman"/>
                <a:cs typeface="Times New Roman"/>
              </a:rPr>
              <a:t>backed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recommendations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optimization.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65100" algn="l"/>
              </a:tabLst>
            </a:pPr>
            <a:r>
              <a:rPr dirty="0" sz="1200">
                <a:latin typeface="Times New Roman"/>
                <a:cs typeface="Times New Roman"/>
              </a:rPr>
              <a:t>Present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results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interpretation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academic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managerial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understanding</a:t>
            </a:r>
            <a:r>
              <a:rPr dirty="0" sz="1100" spc="-1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4674234"/>
            <a:ext cx="5954395" cy="1164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Methodology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300"/>
              </a:lnSpc>
              <a:spcBef>
                <a:spcPts val="1170"/>
              </a:spcBef>
            </a:pP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analyzed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descriptive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diagnostic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analytics.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Python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visualization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libraries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clean,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explore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graph </a:t>
            </a:r>
            <a:r>
              <a:rPr dirty="0" sz="1200">
                <a:latin typeface="Times New Roman"/>
                <a:cs typeface="Times New Roman"/>
              </a:rPr>
              <a:t>represents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specific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insights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distribution,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comparisons,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forecasts.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6361557"/>
            <a:ext cx="5379085" cy="187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Models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Tools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34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ARIMA: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Predictive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(Time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Series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Analysis)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Linear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programming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(pulp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library):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Prescriptive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Analytics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(optimization)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4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XGBoost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Regressor: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Machine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(predictive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analysis)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Seasonal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Decomposition: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Predictive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Descriptive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(Time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series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analysis)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3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Correlation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matrix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analysis: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Descriptive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Visualization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Matplotlib,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Seaborn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5"/>
            <a:ext cx="5853430" cy="157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Analysis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Findings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key_item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(I00152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I00184)</a:t>
            </a:r>
            <a:endParaRPr sz="1200">
              <a:latin typeface="Times New Roman"/>
              <a:cs typeface="Times New Roman"/>
            </a:endParaRPr>
          </a:p>
          <a:p>
            <a:pPr marL="12700" marR="81915">
              <a:lnSpc>
                <a:spcPct val="103299"/>
              </a:lnSpc>
              <a:spcBef>
                <a:spcPts val="127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assigned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significant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multiple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factors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Transaction </a:t>
            </a:r>
            <a:r>
              <a:rPr dirty="0" sz="1200">
                <a:latin typeface="Times New Roman"/>
                <a:cs typeface="Times New Roman"/>
              </a:rPr>
              <a:t>method,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Quantity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location</a:t>
            </a:r>
            <a:r>
              <a:rPr dirty="0" sz="1200" spc="-20">
                <a:latin typeface="Times New Roman"/>
                <a:cs typeface="Times New Roman"/>
              </a:rPr>
              <a:t> etc.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200" b="1">
                <a:latin typeface="Times New Roman"/>
                <a:cs typeface="Times New Roman"/>
              </a:rPr>
              <a:t>Descriptive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Analysis: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Card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dominate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(60%),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followed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(20%)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(20%).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Cards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generate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highest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revenue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here: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996310" y="5730620"/>
            <a:ext cx="22561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Payment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Comparison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6452996"/>
            <a:ext cx="5841365" cy="234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0" indent="-10795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20650" algn="l"/>
              </a:tabLst>
            </a:pPr>
            <a:r>
              <a:rPr dirty="0" sz="1200">
                <a:latin typeface="Times New Roman"/>
                <a:cs typeface="Times New Roman"/>
              </a:rPr>
              <a:t>Card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dominate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they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majority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transactions.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0650" indent="-107950">
              <a:lnSpc>
                <a:spcPct val="100000"/>
              </a:lnSpc>
              <a:buFont typeface="Symbol"/>
              <a:buChar char=""/>
              <a:tabLst>
                <a:tab pos="120650" algn="l"/>
              </a:tabLst>
            </a:pPr>
            <a:r>
              <a:rPr dirty="0" sz="1200">
                <a:latin typeface="Times New Roman"/>
                <a:cs typeface="Times New Roman"/>
              </a:rPr>
              <a:t>Cash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minimal,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showing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prefer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items.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0650" indent="-107950">
              <a:lnSpc>
                <a:spcPct val="100000"/>
              </a:lnSpc>
              <a:buFont typeface="Symbol"/>
              <a:buChar char=""/>
              <a:tabLst>
                <a:tab pos="120650" algn="l"/>
              </a:tabLst>
            </a:pP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slightly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cash,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still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transactions.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Comparing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two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items: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I00184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transactions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overall.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distribution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pattern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(card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&gt;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&gt;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cash)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consistent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items.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overwhelmingly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prefer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I00152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I00184,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a </a:t>
            </a:r>
            <a:r>
              <a:rPr dirty="0" sz="1200">
                <a:latin typeface="Times New Roman"/>
                <a:cs typeface="Times New Roman"/>
              </a:rPr>
              <a:t>secondary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choice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method.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063" y="2703728"/>
            <a:ext cx="4815971" cy="2872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60091" y="4433442"/>
            <a:ext cx="2251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Figure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2(a):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Comparison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08630" y="8795715"/>
            <a:ext cx="2753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Figure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2(b):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Average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Comparison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391" y="982681"/>
            <a:ext cx="5485231" cy="32092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520" y="4889730"/>
            <a:ext cx="5787312" cy="36758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05685" y="8692083"/>
            <a:ext cx="416115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2(c):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Descriptive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visualization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I00152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I00184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337" y="1140864"/>
            <a:ext cx="5856813" cy="74993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244854"/>
            <a:ext cx="3138805" cy="55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Predictive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Analysis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between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I00152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I00184: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200">
                <a:latin typeface="Times New Roman"/>
                <a:cs typeface="Times New Roman"/>
              </a:rPr>
              <a:t>Seasonal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decomposition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graph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34870" y="7902702"/>
            <a:ext cx="35020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Seasonal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Decomposition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Quantity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I00152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828" y="2032169"/>
            <a:ext cx="6051179" cy="5343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6576441"/>
            <a:ext cx="5781675" cy="2312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8542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Seasonal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Decomposition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Quantity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I00184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3400"/>
              </a:lnSpc>
              <a:spcBef>
                <a:spcPts val="5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Insights:</a:t>
            </a:r>
            <a:r>
              <a:rPr dirty="0" sz="1200" spc="-2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Seasonal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peaks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November–December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with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amplitude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~2–3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units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suggest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holiday-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driven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demand.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Trend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mean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~5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units/day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indicates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steady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growth,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aiding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seasonal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inventory planning.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dirty="0" sz="1200">
                <a:solidFill>
                  <a:srgbClr val="1F3762"/>
                </a:solidFill>
                <a:latin typeface="Times New Roman"/>
                <a:cs typeface="Times New Roman"/>
              </a:rPr>
              <a:t>Actual</a:t>
            </a:r>
            <a:r>
              <a:rPr dirty="0" sz="1200" spc="-45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3762"/>
                </a:solidFill>
                <a:latin typeface="Times New Roman"/>
                <a:cs typeface="Times New Roman"/>
              </a:rPr>
              <a:t>Sales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1F3762"/>
              </a:buClr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0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Description:</a:t>
            </a:r>
            <a:endParaRPr sz="1200">
              <a:latin typeface="Times New Roman"/>
              <a:cs typeface="Times New Roman"/>
            </a:endParaRPr>
          </a:p>
          <a:p>
            <a:pPr marL="469265" marR="76200">
              <a:lnSpc>
                <a:spcPts val="1380"/>
              </a:lnSpc>
              <a:spcBef>
                <a:spcPts val="55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graph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shows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actual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daily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quantity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period analyzed.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50" y="973241"/>
            <a:ext cx="6119212" cy="5366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88238"/>
            <a:ext cx="5520055" cy="909319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40665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curve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represents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raw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—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consistent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short-</a:t>
            </a:r>
            <a:r>
              <a:rPr dirty="0" sz="1200" spc="-20">
                <a:latin typeface="Times New Roman"/>
                <a:cs typeface="Times New Roman"/>
              </a:rPr>
              <a:t>term </a:t>
            </a:r>
            <a:r>
              <a:rPr dirty="0" sz="1200" spc="-10">
                <a:latin typeface="Times New Roman"/>
                <a:cs typeface="Times New Roman"/>
              </a:rPr>
              <a:t>fluctuations.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25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Interpretation: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ts val="1370"/>
              </a:lnSpc>
            </a:pPr>
            <a:r>
              <a:rPr dirty="0" sz="1200">
                <a:latin typeface="Times New Roman"/>
                <a:cs typeface="Times New Roman"/>
              </a:rPr>
              <a:t>spikes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drops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certain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points,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indicating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periods.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ts val="1410"/>
              </a:lnSpc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pattern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direct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</a:t>
            </a:r>
            <a:r>
              <a:rPr dirty="0" sz="1200" spc="-10">
                <a:latin typeface="Times New Roman"/>
                <a:cs typeface="Times New Roman"/>
              </a:rPr>
              <a:t> understanding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world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performance.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2294890"/>
            <a:ext cx="5784215" cy="605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165100" algn="l"/>
              </a:tabLst>
            </a:pPr>
            <a:r>
              <a:rPr dirty="0" sz="1200">
                <a:solidFill>
                  <a:srgbClr val="1F3762"/>
                </a:solidFill>
                <a:latin typeface="Times New Roman"/>
                <a:cs typeface="Times New Roman"/>
              </a:rPr>
              <a:t>Trend</a:t>
            </a:r>
            <a:r>
              <a:rPr dirty="0" sz="1200" spc="-3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3762"/>
                </a:solidFill>
                <a:latin typeface="Times New Roman"/>
                <a:cs typeface="Times New Roman"/>
              </a:rPr>
              <a:t>Component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1F3762"/>
              </a:buClr>
              <a:buFont typeface="Times New Roman"/>
              <a:buAutoNum type="arabicPeriod" startAt="2"/>
            </a:pP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0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Description:</a:t>
            </a:r>
            <a:endParaRPr sz="1200">
              <a:latin typeface="Times New Roman"/>
              <a:cs typeface="Times New Roman"/>
            </a:endParaRPr>
          </a:p>
          <a:p>
            <a:pPr marL="469265" marR="154940">
              <a:lnSpc>
                <a:spcPts val="1380"/>
              </a:lnSpc>
              <a:spcBef>
                <a:spcPts val="5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second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graph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shows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long-</a:t>
            </a:r>
            <a:r>
              <a:rPr dirty="0" sz="1200">
                <a:latin typeface="Times New Roman"/>
                <a:cs typeface="Times New Roman"/>
              </a:rPr>
              <a:t>term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movement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removing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short-</a:t>
            </a:r>
            <a:r>
              <a:rPr dirty="0" sz="1200" spc="-20">
                <a:latin typeface="Times New Roman"/>
                <a:cs typeface="Times New Roman"/>
              </a:rPr>
              <a:t>term </a:t>
            </a:r>
            <a:r>
              <a:rPr dirty="0" sz="1200" spc="-10">
                <a:latin typeface="Times New Roman"/>
                <a:cs typeface="Times New Roman"/>
              </a:rPr>
              <a:t>irregularities.</a:t>
            </a:r>
            <a:endParaRPr sz="1200">
              <a:latin typeface="Times New Roman"/>
              <a:cs typeface="Times New Roman"/>
            </a:endParaRPr>
          </a:p>
          <a:p>
            <a:pPr marL="469265" marR="319405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smoothed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original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revealing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whether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 </a:t>
            </a:r>
            <a:r>
              <a:rPr dirty="0" sz="1200" spc="-10">
                <a:latin typeface="Times New Roman"/>
                <a:cs typeface="Times New Roman"/>
              </a:rPr>
              <a:t>generally </a:t>
            </a:r>
            <a:r>
              <a:rPr dirty="0" sz="1200">
                <a:latin typeface="Times New Roman"/>
                <a:cs typeface="Times New Roman"/>
              </a:rPr>
              <a:t>increasing,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decreasing,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time</a:t>
            </a:r>
            <a:r>
              <a:rPr dirty="0" sz="1200" spc="-1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25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Interpretation: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385"/>
              </a:lnSpc>
            </a:pPr>
            <a:r>
              <a:rPr dirty="0" sz="1200">
                <a:latin typeface="Times New Roman"/>
                <a:cs typeface="Times New Roman"/>
              </a:rPr>
              <a:t>If your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gradually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rises,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indicates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positive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growth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item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400"/>
              </a:lnSpc>
            </a:pPr>
            <a:r>
              <a:rPr dirty="0" sz="1000" spc="-10">
                <a:latin typeface="Courier New"/>
                <a:cs typeface="Courier New"/>
              </a:rPr>
              <a:t>I00184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marR="5080">
              <a:lnSpc>
                <a:spcPts val="1380"/>
              </a:lnSpc>
              <a:spcBef>
                <a:spcPts val="70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downward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fluctuating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could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seasonal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dependency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declining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market interest.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345"/>
              </a:lnSpc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insight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overall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direction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independent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seasonal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effects.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165100" algn="l"/>
              </a:tabLst>
            </a:pPr>
            <a:r>
              <a:rPr dirty="0" sz="1200">
                <a:solidFill>
                  <a:srgbClr val="1F3762"/>
                </a:solidFill>
                <a:latin typeface="Times New Roman"/>
                <a:cs typeface="Times New Roman"/>
              </a:rPr>
              <a:t>Seasonal</a:t>
            </a:r>
            <a:r>
              <a:rPr dirty="0" sz="1200" spc="-55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3762"/>
                </a:solidFill>
                <a:latin typeface="Times New Roman"/>
                <a:cs typeface="Times New Roman"/>
              </a:rPr>
              <a:t>Component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1F3762"/>
              </a:buClr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0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Description: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370"/>
              </a:lnSpc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third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graph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visualizes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repeating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cyclical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patterns</a:t>
            </a:r>
            <a:r>
              <a:rPr dirty="0" sz="1200" spc="-1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390"/>
              </a:lnSpc>
            </a:pP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isolates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recurring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behavior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happens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cycle.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Interpretation:</a:t>
            </a:r>
            <a:endParaRPr sz="1200">
              <a:latin typeface="Times New Roman"/>
              <a:cs typeface="Times New Roman"/>
            </a:endParaRPr>
          </a:p>
          <a:p>
            <a:pPr marL="469265" marR="38100">
              <a:lnSpc>
                <a:spcPts val="1380"/>
              </a:lnSpc>
              <a:spcBef>
                <a:spcPts val="55"/>
              </a:spcBef>
            </a:pPr>
            <a:r>
              <a:rPr dirty="0" sz="1200">
                <a:latin typeface="Times New Roman"/>
                <a:cs typeface="Times New Roman"/>
              </a:rPr>
              <a:t>If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seasonal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curve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repeats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wave-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pattern</a:t>
            </a:r>
            <a:r>
              <a:rPr dirty="0" sz="1200" b="1">
                <a:latin typeface="Times New Roman"/>
                <a:cs typeface="Times New Roman"/>
              </a:rPr>
              <a:t>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means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follow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predictable </a:t>
            </a:r>
            <a:r>
              <a:rPr dirty="0" sz="1200">
                <a:latin typeface="Times New Roman"/>
                <a:cs typeface="Times New Roman"/>
              </a:rPr>
              <a:t>monthly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pattern</a:t>
            </a:r>
            <a:r>
              <a:rPr dirty="0" sz="1200" spc="-1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marR="22606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forecast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inventory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promotions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according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periodic </a:t>
            </a:r>
            <a:r>
              <a:rPr dirty="0" sz="1200">
                <a:latin typeface="Times New Roman"/>
                <a:cs typeface="Times New Roman"/>
              </a:rPr>
              <a:t>demand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surges.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295"/>
              </a:spcBef>
              <a:buAutoNum type="arabicPeriod" startAt="4"/>
              <a:tabLst>
                <a:tab pos="165100" algn="l"/>
              </a:tabLst>
            </a:pPr>
            <a:r>
              <a:rPr dirty="0" sz="1200">
                <a:solidFill>
                  <a:srgbClr val="1F3762"/>
                </a:solidFill>
                <a:latin typeface="Times New Roman"/>
                <a:cs typeface="Times New Roman"/>
              </a:rPr>
              <a:t>Residual</a:t>
            </a:r>
            <a:r>
              <a:rPr dirty="0" sz="1200" spc="-55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3762"/>
                </a:solidFill>
                <a:latin typeface="Times New Roman"/>
                <a:cs typeface="Times New Roman"/>
              </a:rPr>
              <a:t>(Irregular</a:t>
            </a:r>
            <a:r>
              <a:rPr dirty="0" sz="1200" spc="-5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3762"/>
                </a:solidFill>
                <a:latin typeface="Times New Roman"/>
                <a:cs typeface="Times New Roman"/>
              </a:rPr>
              <a:t>Fluctuations)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1F3762"/>
              </a:buClr>
              <a:buFont typeface="Times New Roman"/>
              <a:buAutoNum type="arabicPeriod" startAt="4"/>
            </a:pP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0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Description:</a:t>
            </a:r>
            <a:endParaRPr sz="1200">
              <a:latin typeface="Times New Roman"/>
              <a:cs typeface="Times New Roman"/>
            </a:endParaRPr>
          </a:p>
          <a:p>
            <a:pPr marL="469265" marR="221615">
              <a:lnSpc>
                <a:spcPts val="1380"/>
              </a:lnSpc>
              <a:spcBef>
                <a:spcPts val="5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graph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represents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removing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seasonal </a:t>
            </a:r>
            <a:r>
              <a:rPr dirty="0" sz="1200">
                <a:latin typeface="Times New Roman"/>
                <a:cs typeface="Times New Roman"/>
              </a:rPr>
              <a:t>effects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—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essentially,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random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noise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or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unexpected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variations</a:t>
            </a:r>
            <a:r>
              <a:rPr dirty="0" sz="1200" spc="-1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25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Interpretation: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370"/>
              </a:lnSpc>
            </a:pPr>
            <a:r>
              <a:rPr dirty="0" sz="1200">
                <a:latin typeface="Times New Roman"/>
                <a:cs typeface="Times New Roman"/>
              </a:rPr>
              <a:t>Large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residual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spikes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indicate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outliers</a:t>
            </a:r>
            <a:r>
              <a:rPr dirty="0" sz="1200" spc="-1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marR="345440">
              <a:lnSpc>
                <a:spcPts val="1380"/>
              </a:lnSpc>
              <a:spcBef>
                <a:spcPts val="65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residual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pattern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close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zero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means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explained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the </a:t>
            </a:r>
            <a:r>
              <a:rPr dirty="0" sz="1200">
                <a:latin typeface="Times New Roman"/>
                <a:cs typeface="Times New Roman"/>
              </a:rPr>
              <a:t>variation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seasonality</a:t>
            </a:r>
            <a:r>
              <a:rPr dirty="0" sz="1200" spc="-1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5"/>
            <a:ext cx="2675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Prescriptive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Analysis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(I00152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I00184):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5177408"/>
            <a:ext cx="5964555" cy="3435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Comparison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item_key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3299"/>
              </a:lnSpc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Optimal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discount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might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10–15%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I00184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(lower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price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item),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increasing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sales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volume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15–20%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profit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~5–10%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.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I00152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may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not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need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discounts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due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higher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margin.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3025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Representation: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Two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smooth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lines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circular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markers,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I00152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(blue)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for </a:t>
            </a:r>
            <a:r>
              <a:rPr dirty="0" sz="1200">
                <a:latin typeface="Times New Roman"/>
                <a:cs typeface="Times New Roman"/>
              </a:rPr>
              <a:t>I00184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(orange).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I00152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I00184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reflecting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potential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demand differences.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Optimal</a:t>
            </a:r>
            <a:r>
              <a:rPr dirty="0" sz="1200" spc="-3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Promotion</a:t>
            </a:r>
            <a:r>
              <a:rPr dirty="0" sz="1200" spc="-4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Budget</a:t>
            </a:r>
            <a:r>
              <a:rPr dirty="0" sz="1200" spc="-3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Times New Roman"/>
                <a:cs typeface="Times New Roman"/>
              </a:rPr>
              <a:t>Allocation: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81330">
              <a:lnSpc>
                <a:spcPts val="1380"/>
              </a:lnSpc>
              <a:spcBef>
                <a:spcPts val="5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Promotions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should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target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Dhaka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division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(highest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customer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base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both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items, allocating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~70%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budget</a:t>
            </a:r>
            <a:r>
              <a:rPr dirty="0" sz="1200" spc="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boosting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sales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10–15%.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200" b="1">
                <a:latin typeface="Times New Roman"/>
                <a:cs typeface="Times New Roman"/>
              </a:rPr>
              <a:t>Proposing</a:t>
            </a:r>
            <a:r>
              <a:rPr dirty="0" sz="1200" spc="-10" b="1">
                <a:latin typeface="Times New Roman"/>
                <a:cs typeface="Times New Roman"/>
              </a:rPr>
              <a:t> Location-</a:t>
            </a:r>
            <a:r>
              <a:rPr dirty="0" sz="1200" b="1">
                <a:latin typeface="Times New Roman"/>
                <a:cs typeface="Times New Roman"/>
              </a:rPr>
              <a:t>Specific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Stocking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Plans: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41935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Locations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historical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stock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optimizing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coverage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356 </a:t>
            </a:r>
            <a:r>
              <a:rPr dirty="0" sz="1200" spc="-10">
                <a:latin typeface="Times New Roman"/>
                <a:cs typeface="Times New Roman"/>
              </a:rPr>
              <a:t>units.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13670"/>
            <a:ext cx="3215640" cy="6472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475" y="2293402"/>
            <a:ext cx="5846195" cy="27240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4334"/>
            <a:ext cx="23964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Forecasting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Sales</a:t>
            </a:r>
            <a:r>
              <a:rPr dirty="0" sz="1100" spc="-4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Quantity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Using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ARIMA: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33242" y="7617714"/>
            <a:ext cx="21094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Forecast 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ARIMA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742" y="1144142"/>
            <a:ext cx="6546565" cy="30022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015" y="4369393"/>
            <a:ext cx="6590906" cy="30829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5"/>
            <a:ext cx="24638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Compzarative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Insights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Sales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Forecast: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4704" y="1188974"/>
          <a:ext cx="6138545" cy="214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630"/>
                <a:gridCol w="1085850"/>
                <a:gridCol w="1143634"/>
                <a:gridCol w="2343150"/>
              </a:tblGrid>
              <a:tr h="286385">
                <a:tc>
                  <a:txBody>
                    <a:bodyPr/>
                    <a:lstStyle/>
                    <a:p>
                      <a:pPr algn="ctr" marL="635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Metric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Item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I00152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Item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I00184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9930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observation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marL="496570" marR="255270" indent="-234950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Mean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Forecasted Quantity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0.17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units/day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0.34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units/day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0910" marR="66675" indent="-862965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I00184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roughly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double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baseline demand.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496570" marR="123825" indent="-367665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Forecasted Quantity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0.19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units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1.02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units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7380" marR="93345" indent="-530860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I00184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stronger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peak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demand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 the start of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2026.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Demand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Pattern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Stable,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 marR="81915" indent="-184785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Sharp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spike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1809" marR="210820" indent="-300355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dynamics;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requires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tailored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stock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planning.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02004" y="3866515"/>
            <a:ext cx="2691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Predicting</a:t>
            </a:r>
            <a:r>
              <a:rPr dirty="0" sz="1200" spc="-4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Sample</a:t>
            </a:r>
            <a:r>
              <a:rPr dirty="0" sz="1200" spc="-2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Price</a:t>
            </a:r>
            <a:r>
              <a:rPr dirty="0" sz="1200" spc="-4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Using</a:t>
            </a:r>
            <a:r>
              <a:rPr dirty="0" sz="1200" spc="-3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Times New Roman"/>
                <a:cs typeface="Times New Roman"/>
              </a:rPr>
              <a:t>XGBoost: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6725792"/>
            <a:ext cx="5851525" cy="23317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Quantity_sold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likely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dominates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feature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importance,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indicating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good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predictive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power.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Predicted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price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5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units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could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be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~80–100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BDT,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guiding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pricing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strategies.</a:t>
            </a:r>
            <a:endParaRPr sz="1200">
              <a:latin typeface="Times New Roman"/>
              <a:cs typeface="Times New Roman"/>
            </a:endParaRPr>
          </a:p>
          <a:p>
            <a:pPr marL="12700" marR="1951355">
              <a:lnSpc>
                <a:spcPct val="315800"/>
              </a:lnSpc>
              <a:spcBef>
                <a:spcPts val="65"/>
              </a:spcBef>
            </a:pPr>
            <a:r>
              <a:rPr dirty="0" sz="1200" b="1">
                <a:latin typeface="Times New Roman"/>
                <a:cs typeface="Times New Roman"/>
              </a:rPr>
              <a:t>Optimizing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Inventory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Allocation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with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Linear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Programming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Result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Total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Projected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Revenue: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5500000.00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BDT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21615">
              <a:lnSpc>
                <a:spcPct val="103299"/>
              </a:lnSpc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If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I00152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has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higher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avg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price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than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I00184,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all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100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units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may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go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dirty="0" sz="1200" spc="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I00152.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This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suggests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focusing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stock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on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higher-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margin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items.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517125"/>
            <a:ext cx="5372100" cy="182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5"/>
            <a:ext cx="14008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Prescriptive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1162557"/>
            <a:ext cx="686435" cy="4248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9"/>
              </a:spcBef>
              <a:buSzPct val="91666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Times New Roman"/>
                <a:cs typeface="Times New Roman"/>
              </a:rPr>
              <a:t>Result: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Result: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81783" y="1162557"/>
            <a:ext cx="3096895" cy="424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09200"/>
              </a:lnSpc>
              <a:spcBef>
                <a:spcPts val="100"/>
              </a:spcBef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Total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Projected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(I00152):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17205.00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BDT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Total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Projected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(I00184):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24144.00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BDT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1673097"/>
            <a:ext cx="568388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Optimal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Allocation: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3299"/>
              </a:lnSpc>
              <a:spcBef>
                <a:spcPts val="86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Optimal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selling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H#607,R#10,Baitul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Housing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Society,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Adabar, Mohammadpur,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Dhaka </a:t>
            </a:r>
            <a:r>
              <a:rPr dirty="0" sz="1200" spc="-20">
                <a:latin typeface="Times New Roman"/>
                <a:cs typeface="Times New Roman"/>
              </a:rPr>
              <a:t>1207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29610" y="6387464"/>
            <a:ext cx="23171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Correlation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prediction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706" y="2838112"/>
            <a:ext cx="5282754" cy="33569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213597"/>
            <a:ext cx="5594350" cy="935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6179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8: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promotion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Budget</a:t>
            </a:r>
            <a:r>
              <a:rPr dirty="0" sz="1100" spc="-10">
                <a:latin typeface="Calibri"/>
                <a:cs typeface="Calibri"/>
              </a:rPr>
              <a:t> allocation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99"/>
              </a:lnSpc>
            </a:pPr>
            <a:r>
              <a:rPr dirty="0" sz="1100" b="1">
                <a:solidFill>
                  <a:srgbClr val="1F1F1F"/>
                </a:solidFill>
                <a:latin typeface="Arial"/>
                <a:cs typeface="Arial"/>
              </a:rPr>
              <a:t>Insights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:</a:t>
            </a:r>
            <a:r>
              <a:rPr dirty="0" sz="110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Promotions</a:t>
            </a:r>
            <a:r>
              <a:rPr dirty="0" sz="110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should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target</a:t>
            </a:r>
            <a:r>
              <a:rPr dirty="0" sz="1100" spc="-1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Dhaka</a:t>
            </a:r>
            <a:r>
              <a:rPr dirty="0" sz="110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division</a:t>
            </a:r>
            <a:r>
              <a:rPr dirty="0" sz="1100" spc="-1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-</a:t>
            </a:r>
            <a:r>
              <a:rPr dirty="0" sz="110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highest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customer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base</a:t>
            </a:r>
            <a:r>
              <a:rPr dirty="0" sz="110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dirty="0" sz="1100" spc="-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both</a:t>
            </a:r>
            <a:r>
              <a:rPr dirty="0" sz="1100" spc="-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F1F1F"/>
                </a:solidFill>
                <a:latin typeface="Arial MT"/>
                <a:cs typeface="Arial MT"/>
              </a:rPr>
              <a:t>items,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allocating</a:t>
            </a:r>
            <a:r>
              <a:rPr dirty="0" sz="1100" spc="-2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~70%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dirty="0" sz="1100" spc="-1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budget,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boosting</a:t>
            </a:r>
            <a:r>
              <a:rPr dirty="0" sz="1100" spc="-2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sales</a:t>
            </a:r>
            <a:r>
              <a:rPr dirty="0" sz="1100" spc="-2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F1F1F"/>
                </a:solidFill>
                <a:latin typeface="Arial MT"/>
                <a:cs typeface="Arial MT"/>
              </a:rPr>
              <a:t>by</a:t>
            </a:r>
            <a:r>
              <a:rPr dirty="0" sz="11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F1F1F"/>
                </a:solidFill>
                <a:latin typeface="Arial MT"/>
                <a:cs typeface="Arial MT"/>
              </a:rPr>
              <a:t>10–15%.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479" y="974477"/>
            <a:ext cx="5846570" cy="34244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479" y="4634109"/>
            <a:ext cx="5846570" cy="3424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5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Analysis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on STORE </a:t>
            </a:r>
            <a:r>
              <a:rPr dirty="0" sz="1200" spc="-10" b="1">
                <a:latin typeface="Times New Roman"/>
                <a:cs typeface="Times New Roman"/>
              </a:rPr>
              <a:t>S0035: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89986" y="4969890"/>
            <a:ext cx="23945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April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May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94786" y="8507730"/>
            <a:ext cx="17856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item_key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322" y="1644363"/>
            <a:ext cx="5830848" cy="31335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489" y="5622678"/>
            <a:ext cx="5840686" cy="28297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20876" y="4366386"/>
            <a:ext cx="5728335" cy="779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58445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11: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Average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week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Remarks: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Fridays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Saturdays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consistently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higher,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reflecting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leisure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shopping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50007" y="8931350"/>
            <a:ext cx="2073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12: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Monthly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Distribution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908" y="999858"/>
            <a:ext cx="5797473" cy="3196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314" y="5611159"/>
            <a:ext cx="5823856" cy="3133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7502" y="4666614"/>
            <a:ext cx="25203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 13: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</a:t>
            </a:r>
            <a:r>
              <a:rPr dirty="0" sz="1100" spc="-10">
                <a:latin typeface="Calibri"/>
                <a:cs typeface="Calibri"/>
              </a:rPr>
              <a:t> Forecast-</a:t>
            </a:r>
            <a:r>
              <a:rPr dirty="0" sz="1100">
                <a:latin typeface="Calibri"/>
                <a:cs typeface="Calibri"/>
              </a:rPr>
              <a:t>actual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predicted.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304" y="5532501"/>
            <a:ext cx="2533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Total</a:t>
            </a:r>
            <a:r>
              <a:rPr dirty="0" sz="1200" spc="-3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Projected</a:t>
            </a:r>
            <a:r>
              <a:rPr dirty="0" sz="1200" spc="-2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3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(Using</a:t>
            </a:r>
            <a:r>
              <a:rPr dirty="0" sz="1200" spc="-3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Times New Roman"/>
                <a:cs typeface="Times New Roman"/>
              </a:rPr>
              <a:t>pulp):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8940495"/>
            <a:ext cx="4456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Remarks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Total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Projected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5500.00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BDT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(Using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PULP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model)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344" y="1249961"/>
            <a:ext cx="5857815" cy="28315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930053"/>
            <a:ext cx="3772476" cy="2578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1286"/>
            <a:ext cx="3455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Analysis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on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whole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system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general: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188335" y="5434964"/>
            <a:ext cx="18491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14: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Correlation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map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5931789"/>
            <a:ext cx="5964555" cy="2502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F3762"/>
                </a:solidFill>
                <a:latin typeface="Times New Roman"/>
                <a:cs typeface="Times New Roman"/>
              </a:rPr>
              <a:t>Strongest</a:t>
            </a:r>
            <a:r>
              <a:rPr dirty="0" sz="1200" spc="-55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3762"/>
                </a:solidFill>
                <a:latin typeface="Times New Roman"/>
                <a:cs typeface="Times New Roman"/>
              </a:rPr>
              <a:t>Correlations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00"/>
              </a:lnSpc>
              <a:spcBef>
                <a:spcPts val="5"/>
              </a:spcBef>
              <a:buSzPct val="120000"/>
              <a:buFont typeface="Times New Roman"/>
              <a:buAutoNum type="arabicPeriod"/>
              <a:tabLst>
                <a:tab pos="469265" algn="l"/>
              </a:tabLst>
            </a:pPr>
            <a:r>
              <a:rPr dirty="0" sz="1000" b="1">
                <a:latin typeface="Times New Roman"/>
                <a:cs typeface="Times New Roman"/>
              </a:rPr>
              <a:t>quantity_sold</a:t>
            </a:r>
            <a:r>
              <a:rPr dirty="0" sz="1000" spc="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↔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total_price</a:t>
            </a:r>
            <a:r>
              <a:rPr dirty="0" sz="1200" b="1">
                <a:latin typeface="Times New Roman"/>
                <a:cs typeface="Times New Roman"/>
              </a:rPr>
              <a:t>: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0.7266</a:t>
            </a:r>
            <a:endParaRPr sz="1200">
              <a:latin typeface="Times New Roman"/>
              <a:cs typeface="Times New Roman"/>
            </a:endParaRPr>
          </a:p>
          <a:p>
            <a:pPr lvl="1" marL="926465" marR="229870" indent="-228600">
              <a:lnSpc>
                <a:spcPts val="1380"/>
              </a:lnSpc>
              <a:spcBef>
                <a:spcPts val="50"/>
              </a:spcBef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strong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positive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correlation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meaning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number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sold </a:t>
            </a:r>
            <a:r>
              <a:rPr dirty="0" sz="1200">
                <a:latin typeface="Times New Roman"/>
                <a:cs typeface="Times New Roman"/>
              </a:rPr>
              <a:t>increases,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increases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—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expected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= </a:t>
            </a:r>
            <a:r>
              <a:rPr dirty="0" sz="1200">
                <a:latin typeface="Times New Roman"/>
                <a:cs typeface="Times New Roman"/>
              </a:rPr>
              <a:t>quantity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×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price.</a:t>
            </a:r>
            <a:endParaRPr sz="1200">
              <a:latin typeface="Times New Roman"/>
              <a:cs typeface="Times New Roman"/>
            </a:endParaRPr>
          </a:p>
          <a:p>
            <a:pPr lvl="1" marL="926465" indent="-228600">
              <a:lnSpc>
                <a:spcPts val="1325"/>
              </a:lnSpc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confirms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consistency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SzPct val="120000"/>
              <a:buFont typeface="Times New Roman"/>
              <a:buAutoNum type="arabicPeriod"/>
              <a:tabLst>
                <a:tab pos="469265" algn="l"/>
              </a:tabLst>
            </a:pPr>
            <a:r>
              <a:rPr dirty="0" sz="1000" b="1">
                <a:latin typeface="Times New Roman"/>
                <a:cs typeface="Times New Roman"/>
              </a:rPr>
              <a:t>unit_price</a:t>
            </a:r>
            <a:r>
              <a:rPr dirty="0" sz="1000" spc="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↔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total_price</a:t>
            </a:r>
            <a:r>
              <a:rPr dirty="0" sz="1200" b="1">
                <a:latin typeface="Times New Roman"/>
                <a:cs typeface="Times New Roman"/>
              </a:rPr>
              <a:t>: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0.6071</a:t>
            </a:r>
            <a:endParaRPr sz="1200">
              <a:latin typeface="Times New Roman"/>
              <a:cs typeface="Times New Roman"/>
            </a:endParaRPr>
          </a:p>
          <a:p>
            <a:pPr lvl="1" marL="926465" marR="5080" indent="-228600">
              <a:lnSpc>
                <a:spcPts val="1380"/>
              </a:lnSpc>
              <a:spcBef>
                <a:spcPts val="55"/>
              </a:spcBef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moderately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strong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positive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correlation </a:t>
            </a:r>
            <a:r>
              <a:rPr dirty="0" sz="1200">
                <a:latin typeface="Times New Roman"/>
                <a:cs typeface="Times New Roman"/>
              </a:rPr>
              <a:t>—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contribute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higher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prices.</a:t>
            </a:r>
            <a:endParaRPr sz="1200">
              <a:latin typeface="Times New Roman"/>
              <a:cs typeface="Times New Roman"/>
            </a:endParaRPr>
          </a:p>
          <a:p>
            <a:pPr lvl="1" marL="926465" indent="-228600">
              <a:lnSpc>
                <a:spcPts val="1325"/>
              </a:lnSpc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Indicates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quantity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influence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revenue.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SzPct val="120000"/>
              <a:buFont typeface="Times New Roman"/>
              <a:buAutoNum type="arabicPeriod"/>
              <a:tabLst>
                <a:tab pos="469265" algn="l"/>
              </a:tabLst>
            </a:pPr>
            <a:r>
              <a:rPr dirty="0" sz="1000" b="1">
                <a:latin typeface="Times New Roman"/>
                <a:cs typeface="Times New Roman"/>
              </a:rPr>
              <a:t>item_key</a:t>
            </a:r>
            <a:r>
              <a:rPr dirty="0" sz="1000" spc="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↔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unit</a:t>
            </a:r>
            <a:r>
              <a:rPr dirty="0" sz="1200" b="1">
                <a:latin typeface="Times New Roman"/>
                <a:cs typeface="Times New Roman"/>
              </a:rPr>
              <a:t>: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0.1412</a:t>
            </a:r>
            <a:endParaRPr sz="1200">
              <a:latin typeface="Times New Roman"/>
              <a:cs typeface="Times New Roman"/>
            </a:endParaRPr>
          </a:p>
          <a:p>
            <a:pPr lvl="1" marL="926465" marR="62230" indent="-228600">
              <a:lnSpc>
                <a:spcPts val="1380"/>
              </a:lnSpc>
              <a:spcBef>
                <a:spcPts val="55"/>
              </a:spcBef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weak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positive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correlation,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indicate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certain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typically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sold</a:t>
            </a:r>
            <a:r>
              <a:rPr dirty="0" sz="1200" spc="-25">
                <a:latin typeface="Times New Roman"/>
                <a:cs typeface="Times New Roman"/>
              </a:rPr>
              <a:t> in </a:t>
            </a:r>
            <a:r>
              <a:rPr dirty="0" sz="1200">
                <a:latin typeface="Times New Roman"/>
                <a:cs typeface="Times New Roman"/>
              </a:rPr>
              <a:t>specific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units.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048" y="1329217"/>
            <a:ext cx="5752894" cy="39651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2810"/>
            <a:ext cx="17729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Quantity</a:t>
            </a:r>
            <a:r>
              <a:rPr dirty="0" sz="1100" spc="-10">
                <a:latin typeface="Calibri"/>
                <a:cs typeface="Calibri"/>
              </a:rPr>
              <a:t> Sold: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4704" y="1199641"/>
          <a:ext cx="6021070" cy="183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0760"/>
                <a:gridCol w="2397760"/>
              </a:tblGrid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Item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Quantity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Tylenol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Extra Strength</a:t>
                      </a:r>
                      <a:r>
                        <a:rPr dirty="0" sz="1050" spc="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050" spc="-1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pill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packets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18163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Advil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pill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packets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1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17766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Stirrers</a:t>
                      </a:r>
                      <a:r>
                        <a:rPr dirty="0" sz="1050" spc="-2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Coffee</a:t>
                      </a:r>
                      <a:r>
                        <a:rPr dirty="0" sz="1050" spc="-1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Stirs</a:t>
                      </a:r>
                      <a:r>
                        <a:rPr dirty="0" sz="1050" spc="-2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7inch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14060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 marL="635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dirty="0" sz="1050" spc="-2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Cups -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Green </a:t>
                      </a:r>
                      <a:r>
                        <a:rPr dirty="0" sz="1050" spc="-2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Tea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1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13864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Hefty</a:t>
                      </a:r>
                      <a:r>
                        <a:rPr dirty="0" sz="1050" spc="-4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Supreme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Foam</a:t>
                      </a:r>
                      <a:r>
                        <a:rPr dirty="0" sz="1050" spc="-3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Bowls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12oz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9221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 marL="635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dirty="0" sz="1050" spc="-2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Bowls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oz</a:t>
                      </a:r>
                      <a:r>
                        <a:rPr dirty="0" sz="1050" spc="-2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Ultra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Strong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8751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dirty="0" sz="1050" spc="-2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Cups Hot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Cocoa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8030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Njoy</a:t>
                      </a:r>
                      <a:r>
                        <a:rPr dirty="0" sz="1050" spc="-3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Creamer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Canister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dirty="0" sz="1050" spc="-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oz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8008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 marL="635">
                        <a:lnSpc>
                          <a:spcPts val="1180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Swiss</a:t>
                      </a:r>
                      <a:r>
                        <a:rPr dirty="0" sz="1050" spc="-1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Miss</a:t>
                      </a:r>
                      <a:r>
                        <a:rPr dirty="0" sz="1050" spc="-1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Hot</a:t>
                      </a:r>
                      <a:r>
                        <a:rPr dirty="0" sz="1050" spc="-1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Cocoa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Mix</a:t>
                      </a:r>
                      <a:r>
                        <a:rPr dirty="0" sz="1050" spc="-2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oz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8002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Njoy</a:t>
                      </a:r>
                      <a:r>
                        <a:rPr dirty="0" sz="1050" spc="-35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Creamer</a:t>
                      </a:r>
                      <a:r>
                        <a:rPr dirty="0" sz="1050" spc="-1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 Packs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7672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728086" y="7218044"/>
            <a:ext cx="23190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15: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Quantity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sold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996" y="3386595"/>
            <a:ext cx="5812007" cy="35064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384675"/>
            <a:ext cx="5969635" cy="1056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16: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revenue</a:t>
            </a: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03400"/>
              </a:lnSpc>
              <a:spcBef>
                <a:spcPts val="835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Patterns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Farmgate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Dhanmondi</a:t>
            </a:r>
            <a:r>
              <a:rPr dirty="0" sz="1200" spc="9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locations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lead</a:t>
            </a:r>
            <a:r>
              <a:rPr dirty="0" sz="1200" spc="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revenue,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likely</a:t>
            </a:r>
            <a:r>
              <a:rPr dirty="0" sz="1200" spc="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due</a:t>
            </a:r>
            <a:r>
              <a:rPr dirty="0" sz="1200" spc="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dirty="0" sz="1200" spc="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high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traffic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</a:t>
            </a:r>
            <a:r>
              <a:rPr dirty="0" sz="1200" spc="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Dhaka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urban</a:t>
            </a:r>
            <a:r>
              <a:rPr dirty="0" sz="1200" spc="2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areas.</a:t>
            </a:r>
            <a:r>
              <a:rPr dirty="0" sz="1200" spc="2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Large</a:t>
            </a:r>
            <a:r>
              <a:rPr dirty="0" sz="1200" spc="2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stores</a:t>
            </a:r>
            <a:r>
              <a:rPr dirty="0" sz="1200" spc="2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generate</a:t>
            </a:r>
            <a:r>
              <a:rPr dirty="0" sz="1200" spc="2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~2x</a:t>
            </a:r>
            <a:r>
              <a:rPr dirty="0" sz="1200" spc="2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2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dirty="0" sz="1200" spc="2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small</a:t>
            </a:r>
            <a:r>
              <a:rPr dirty="0" sz="1200" spc="2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ones,</a:t>
            </a:r>
            <a:r>
              <a:rPr dirty="0" sz="1200" spc="2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indicating</a:t>
            </a:r>
            <a:r>
              <a:rPr dirty="0" sz="1200" spc="254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scale</a:t>
            </a:r>
            <a:r>
              <a:rPr dirty="0" sz="1200" spc="2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economies.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Upazila/district</a:t>
            </a:r>
            <a:r>
              <a:rPr dirty="0" sz="1200" spc="3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3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shows</a:t>
            </a:r>
            <a:r>
              <a:rPr dirty="0" sz="1200" spc="3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Dhaka</a:t>
            </a:r>
            <a:r>
              <a:rPr dirty="0" sz="1200" spc="3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division</a:t>
            </a:r>
            <a:r>
              <a:rPr dirty="0" sz="1200" spc="3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dominates</a:t>
            </a:r>
            <a:r>
              <a:rPr dirty="0" sz="1200" spc="3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(80%</a:t>
            </a:r>
            <a:r>
              <a:rPr dirty="0" sz="1200" spc="3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revenue),</a:t>
            </a:r>
            <a:r>
              <a:rPr dirty="0" sz="1200" spc="3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with</a:t>
            </a:r>
            <a:r>
              <a:rPr dirty="0" sz="1200" spc="3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rural</a:t>
            </a:r>
            <a:r>
              <a:rPr dirty="0" sz="1200" spc="3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areas underperforming,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suggesting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urban bias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sales.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8673795"/>
            <a:ext cx="5943600" cy="3975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dirty="0" sz="1200" b="1">
                <a:latin typeface="Times New Roman"/>
                <a:cs typeface="Times New Roman"/>
              </a:rPr>
              <a:t>Remarks: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Top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location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new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store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forecasted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location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is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9,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gazipur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road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amount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avg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is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13.41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BDT/day.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286" y="965701"/>
            <a:ext cx="5629241" cy="31140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221" y="5600319"/>
            <a:ext cx="6222078" cy="29163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7219568"/>
            <a:ext cx="5951220" cy="137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32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17: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items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43800"/>
              </a:lnSpc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Remarks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Beverages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snacks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dominate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quantity-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A&amp;W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Root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Beer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cans,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high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volume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but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low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price.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Medicine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high-unit-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price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items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lead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(e.g.,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Tylenol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packets).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Item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types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are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skewed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toward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beverages</a:t>
            </a:r>
            <a:r>
              <a:rPr dirty="0" sz="1200" strike="sngStrike">
                <a:solidFill>
                  <a:srgbClr val="1B9CAB"/>
                </a:solidFill>
                <a:latin typeface="Times New Roman"/>
                <a:cs typeface="Times New Roman"/>
              </a:rPr>
              <a:t>40%),</a:t>
            </a:r>
            <a:r>
              <a:rPr dirty="0" sz="1200" spc="-30" strike="sngStrike">
                <a:solidFill>
                  <a:srgbClr val="1B9CAB"/>
                </a:solidFill>
                <a:latin typeface="Times New Roman"/>
                <a:cs typeface="Times New Roman"/>
              </a:rPr>
              <a:t> </a:t>
            </a:r>
            <a:r>
              <a:rPr dirty="0" sz="1200" strike="sngStrike">
                <a:solidFill>
                  <a:srgbClr val="1B9CAB"/>
                </a:solidFill>
                <a:latin typeface="Times New Roman"/>
                <a:cs typeface="Times New Roman"/>
              </a:rPr>
              <a:t>medicin</a:t>
            </a:r>
            <a:r>
              <a:rPr dirty="0" sz="1200" spc="-35" strike="noStrike">
                <a:solidFill>
                  <a:srgbClr val="1B9CAB"/>
                </a:solidFill>
                <a:latin typeface="Times New Roman"/>
                <a:cs typeface="Times New Roman"/>
              </a:rPr>
              <a:t> </a:t>
            </a:r>
            <a:r>
              <a:rPr dirty="0" sz="1200" strike="noStrike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35" strike="noStrike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trike="noStrike">
                <a:solidFill>
                  <a:srgbClr val="1F1F1F"/>
                </a:solidFill>
                <a:latin typeface="Times New Roman"/>
                <a:cs typeface="Times New Roman"/>
              </a:rPr>
              <a:t>snacks,</a:t>
            </a:r>
            <a:r>
              <a:rPr dirty="0" sz="1200" spc="-30" strike="noStrike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trike="noStrike">
                <a:solidFill>
                  <a:srgbClr val="1F1F1F"/>
                </a:solidFill>
                <a:latin typeface="Times New Roman"/>
                <a:cs typeface="Times New Roman"/>
              </a:rPr>
              <a:t>suggesting</a:t>
            </a:r>
            <a:r>
              <a:rPr dirty="0" sz="1200" spc="-50" strike="noStrike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trike="noStrike">
                <a:solidFill>
                  <a:srgbClr val="1F1F1F"/>
                </a:solidFill>
                <a:latin typeface="Times New Roman"/>
                <a:cs typeface="Times New Roman"/>
              </a:rPr>
              <a:t>a</a:t>
            </a:r>
            <a:r>
              <a:rPr dirty="0" sz="1200" spc="-25" strike="noStrike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trike="noStrike">
                <a:solidFill>
                  <a:srgbClr val="1F1F1F"/>
                </a:solidFill>
                <a:latin typeface="Times New Roman"/>
                <a:cs typeface="Times New Roman"/>
              </a:rPr>
              <a:t>convenience</a:t>
            </a:r>
            <a:r>
              <a:rPr dirty="0" sz="1200" spc="-40" strike="noStrike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trike="noStrike">
                <a:solidFill>
                  <a:srgbClr val="1F1F1F"/>
                </a:solidFill>
                <a:latin typeface="Times New Roman"/>
                <a:cs typeface="Times New Roman"/>
              </a:rPr>
              <a:t>store</a:t>
            </a:r>
            <a:r>
              <a:rPr dirty="0" sz="1200" spc="-35" strike="noStrike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 strike="noStrike">
                <a:solidFill>
                  <a:srgbClr val="1F1F1F"/>
                </a:solidFill>
                <a:latin typeface="Times New Roman"/>
                <a:cs typeface="Times New Roman"/>
              </a:rPr>
              <a:t>focus.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974" y="984328"/>
            <a:ext cx="5786571" cy="606981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57200" y="8416797"/>
            <a:ext cx="9525" cy="364490"/>
          </a:xfrm>
          <a:custGeom>
            <a:avLst/>
            <a:gdLst/>
            <a:ahLst/>
            <a:cxnLst/>
            <a:rect l="l" t="t" r="r" b="b"/>
            <a:pathLst>
              <a:path w="9525" h="364490">
                <a:moveTo>
                  <a:pt x="9143" y="0"/>
                </a:moveTo>
                <a:lnTo>
                  <a:pt x="0" y="0"/>
                </a:lnTo>
                <a:lnTo>
                  <a:pt x="0" y="364235"/>
                </a:lnTo>
                <a:lnTo>
                  <a:pt x="9143" y="364235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920242"/>
            <a:ext cx="2356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Times New Roman"/>
                <a:cs typeface="Times New Roman"/>
              </a:rPr>
              <a:t>Predicted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vs</a:t>
            </a:r>
            <a:r>
              <a:rPr dirty="0" sz="1050" spc="-1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Actual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Revenue by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division: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7041260"/>
            <a:ext cx="5969635" cy="119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18: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impact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Rural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Discount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10400"/>
              </a:lnSpc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Dhaka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dominates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(~80%),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while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rural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divisions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like</a:t>
            </a:r>
            <a:r>
              <a:rPr dirty="0" sz="1200" spc="-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Sylhet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have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lower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totals.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A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10%</a:t>
            </a:r>
            <a:r>
              <a:rPr dirty="0" sz="1200" spc="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discount</a:t>
            </a:r>
            <a:r>
              <a:rPr dirty="0" sz="1200" spc="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could</a:t>
            </a:r>
            <a:r>
              <a:rPr dirty="0" sz="1200" spc="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increase</a:t>
            </a:r>
            <a:r>
              <a:rPr dirty="0" sz="1200" spc="9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rural</a:t>
            </a:r>
            <a:r>
              <a:rPr dirty="0" sz="1200" spc="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sales</a:t>
            </a:r>
            <a:r>
              <a:rPr dirty="0" sz="1200" spc="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15–20%,</a:t>
            </a:r>
            <a:r>
              <a:rPr dirty="0" sz="1200" spc="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adding</a:t>
            </a:r>
            <a:r>
              <a:rPr dirty="0" sz="1200" spc="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~5%</a:t>
            </a:r>
            <a:r>
              <a:rPr dirty="0" sz="1200" spc="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dirty="0" sz="1200" spc="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overall</a:t>
            </a:r>
            <a:r>
              <a:rPr dirty="0" sz="1200" spc="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10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enhancing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market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penetration.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80997"/>
            <a:ext cx="4531741" cy="15265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207" y="3088259"/>
            <a:ext cx="5664925" cy="37754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920242"/>
            <a:ext cx="287083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Times New Roman"/>
                <a:cs typeface="Times New Roman"/>
              </a:rPr>
              <a:t>Predicted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vs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Actual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Revenue</a:t>
            </a:r>
            <a:r>
              <a:rPr dirty="0" sz="1050" spc="-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by</a:t>
            </a:r>
            <a:r>
              <a:rPr dirty="0" sz="1050" spc="-2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payment</a:t>
            </a:r>
            <a:r>
              <a:rPr dirty="0" sz="1050" spc="-10" b="1">
                <a:latin typeface="Times New Roman"/>
                <a:cs typeface="Times New Roman"/>
              </a:rPr>
              <a:t> method: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92426" y="6847713"/>
            <a:ext cx="29870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19: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impact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Mobile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Discount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7710678"/>
            <a:ext cx="5615940" cy="3987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Insights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Mobile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payments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contribute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~20%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revenue.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5%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discount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could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boost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mobile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share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10–15%,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increasing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total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by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3–5%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aligning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with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trends.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290" y="1449029"/>
            <a:ext cx="3859423" cy="10599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330" y="2979969"/>
            <a:ext cx="5705731" cy="34393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6830948"/>
            <a:ext cx="5592445" cy="1381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513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Division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unique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customers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300"/>
              </a:lnSpc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Pattern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Top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spenders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are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Dhaka-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based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with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repeat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purchases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suggesting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loyalty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programs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could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boost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retention.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Customer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base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heavily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Dhaka-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centric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(90%),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with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minimal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rural representation,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indicating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urban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targeting.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Frequent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buyers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are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20%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base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but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drive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40%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revenue,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Pareto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pattern.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979" y="1179726"/>
            <a:ext cx="5240767" cy="46911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57982" y="6361557"/>
            <a:ext cx="24599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Figure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21: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Transaction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distribution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14400" y="7054850"/>
            <a:ext cx="5944870" cy="20955"/>
            <a:chOff x="914400" y="7054850"/>
            <a:chExt cx="5944870" cy="20955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054849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4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56221" y="705548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704" y="7055497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56221" y="705853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70722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7072261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02004" y="7157084"/>
            <a:ext cx="5970270" cy="1888489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40005">
              <a:lnSpc>
                <a:spcPct val="95900"/>
              </a:lnSpc>
              <a:spcBef>
                <a:spcPts val="160"/>
              </a:spcBef>
            </a:pP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Remarks</a:t>
            </a:r>
            <a:r>
              <a:rPr dirty="0" sz="1200" spc="-3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Card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payments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dominate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(60%),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with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mobile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(Bkash,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Rocket)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at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20%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cash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at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20%,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reflecting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shift.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Cards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generate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highest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revenue,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likely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due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higher-value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transactions.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Bank-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shows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AB</a:t>
            </a:r>
            <a:r>
              <a:rPr dirty="0" sz="1200" spc="-2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Bank</a:t>
            </a:r>
            <a:r>
              <a:rPr dirty="0" sz="1200" spc="-1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Uttara</a:t>
            </a:r>
            <a:r>
              <a:rPr dirty="0" sz="1200" spc="-2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1F1F"/>
                </a:solidFill>
                <a:latin typeface="Times New Roman"/>
                <a:cs typeface="Times New Roman"/>
              </a:rPr>
              <a:t>Bank</a:t>
            </a:r>
            <a:r>
              <a:rPr dirty="0" sz="1200" spc="-1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lead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card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use,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suggesting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partnerships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could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increase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sales</a:t>
            </a:r>
            <a:r>
              <a:rPr dirty="0" sz="1200" spc="-1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200" b="1">
                <a:latin typeface="Times New Roman"/>
                <a:cs typeface="Times New Roman"/>
              </a:rPr>
              <a:t>Recommendations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Company:</a:t>
            </a:r>
            <a:endParaRPr sz="1200">
              <a:latin typeface="Times New Roman"/>
              <a:cs typeface="Times New Roman"/>
            </a:endParaRPr>
          </a:p>
          <a:p>
            <a:pPr algn="just" marL="469265" marR="5080" indent="-228600">
              <a:lnSpc>
                <a:spcPct val="143300"/>
              </a:lnSpc>
              <a:spcBef>
                <a:spcPts val="87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Viability: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Open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top-forecasted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urban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locations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Farmgate, </a:t>
            </a:r>
            <a:r>
              <a:rPr dirty="0" sz="1200">
                <a:latin typeface="Times New Roman"/>
                <a:cs typeface="Times New Roman"/>
              </a:rPr>
              <a:t>Gulshan)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projected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revenue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growth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20%.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Avoid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rural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expansion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until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demand </a:t>
            </a:r>
            <a:r>
              <a:rPr dirty="0" sz="1200">
                <a:latin typeface="Times New Roman"/>
                <a:cs typeface="Times New Roman"/>
              </a:rPr>
              <a:t>grows,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ARIMA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forecasts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selection.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25" y="991362"/>
            <a:ext cx="4776932" cy="44407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21182"/>
            <a:ext cx="5969000" cy="552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265" marR="5080" indent="-228600">
              <a:lnSpc>
                <a:spcPct val="1433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Customer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Discounts: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Implement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10%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discount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rural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customers,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potentially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increasing </a:t>
            </a:r>
            <a:r>
              <a:rPr dirty="0" sz="1200">
                <a:latin typeface="Times New Roman"/>
                <a:cs typeface="Times New Roman"/>
              </a:rPr>
              <a:t>rural revenue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15–20%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overall revenue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5%.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Target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frequent buyers with </a:t>
            </a:r>
            <a:r>
              <a:rPr dirty="0" sz="1200" spc="-10">
                <a:latin typeface="Times New Roman"/>
                <a:cs typeface="Times New Roman"/>
              </a:rPr>
              <a:t>loyalty </a:t>
            </a:r>
            <a:r>
              <a:rPr dirty="0" sz="1200">
                <a:latin typeface="Times New Roman"/>
                <a:cs typeface="Times New Roman"/>
              </a:rPr>
              <a:t>programs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retention.</a:t>
            </a:r>
            <a:endParaRPr sz="1200">
              <a:latin typeface="Times New Roman"/>
              <a:cs typeface="Times New Roman"/>
            </a:endParaRPr>
          </a:p>
          <a:p>
            <a:pPr algn="just" marL="469265" marR="5715" indent="-228600">
              <a:lnSpc>
                <a:spcPct val="143300"/>
              </a:lnSpc>
              <a:spcBef>
                <a:spcPts val="10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Payment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Discounts: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5%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discount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payments,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expected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raise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mobile </a:t>
            </a:r>
            <a:r>
              <a:rPr dirty="0" sz="1200">
                <a:latin typeface="Times New Roman"/>
                <a:cs typeface="Times New Roman"/>
              </a:rPr>
              <a:t>usage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10–15%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revenue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3–5%. Partner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banks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</a:t>
            </a:r>
            <a:r>
              <a:rPr dirty="0" sz="1200" spc="-10">
                <a:latin typeface="Times New Roman"/>
                <a:cs typeface="Times New Roman"/>
              </a:rPr>
              <a:t> Bank)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promotions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maintain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high-</a:t>
            </a:r>
            <a:r>
              <a:rPr dirty="0" sz="1200">
                <a:latin typeface="Times New Roman"/>
                <a:cs typeface="Times New Roman"/>
              </a:rPr>
              <a:t>value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transactions.</a:t>
            </a:r>
            <a:endParaRPr sz="1200">
              <a:latin typeface="Times New Roman"/>
              <a:cs typeface="Times New Roman"/>
            </a:endParaRPr>
          </a:p>
          <a:p>
            <a:pPr algn="just" marL="469265" marR="6985" indent="-228600">
              <a:lnSpc>
                <a:spcPct val="1434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Overall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Strategy: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Focus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urban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Dhaka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growth,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leverage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digital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trends,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predictive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(ARIMA,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XGBoost)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inventory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pricing.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top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(80/20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rule)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optimize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~15%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efficiency.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Discussion</a:t>
            </a:r>
            <a:endParaRPr sz="1200">
              <a:latin typeface="Times New Roman"/>
              <a:cs typeface="Times New Roman"/>
            </a:endParaRPr>
          </a:p>
          <a:p>
            <a:pPr algn="just" marL="12700" marR="5715">
              <a:lnSpc>
                <a:spcPct val="103299"/>
              </a:lnSpc>
              <a:spcBef>
                <a:spcPts val="78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analysis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reveals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key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drivers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influence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organizational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performance.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Observed </a:t>
            </a:r>
            <a:r>
              <a:rPr dirty="0" sz="1200">
                <a:latin typeface="Times New Roman"/>
                <a:cs typeface="Times New Roman"/>
              </a:rPr>
              <a:t>patterns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suggest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potential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areas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improvement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operational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efficiency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customer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engagement.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Findings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indicate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seasonal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correlations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between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variables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</a:t>
            </a:r>
            <a:r>
              <a:rPr dirty="0" sz="1200" spc="-10">
                <a:latin typeface="Times New Roman"/>
                <a:cs typeface="Times New Roman"/>
              </a:rPr>
              <a:t> data-</a:t>
            </a:r>
            <a:r>
              <a:rPr dirty="0" sz="1200">
                <a:latin typeface="Times New Roman"/>
                <a:cs typeface="Times New Roman"/>
              </a:rPr>
              <a:t>driven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decision-making.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case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study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highlights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value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analytics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management.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By </a:t>
            </a:r>
            <a:r>
              <a:rPr dirty="0" sz="1200">
                <a:latin typeface="Times New Roman"/>
                <a:cs typeface="Times New Roman"/>
              </a:rPr>
              <a:t>leveraging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analytical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insights,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organizations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identify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hidden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patterns,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predict </a:t>
            </a:r>
            <a:r>
              <a:rPr dirty="0" sz="1200">
                <a:latin typeface="Times New Roman"/>
                <a:cs typeface="Times New Roman"/>
              </a:rPr>
              <a:t>outcomes,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overall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efficiency.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academic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demonstrates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data </a:t>
            </a:r>
            <a:r>
              <a:rPr dirty="0" sz="1200">
                <a:latin typeface="Times New Roman"/>
                <a:cs typeface="Times New Roman"/>
              </a:rPr>
              <a:t>analysis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contributes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strategic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excellence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leadership.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dcterms:created xsi:type="dcterms:W3CDTF">2025-10-11T08:14:11Z</dcterms:created>
  <dcterms:modified xsi:type="dcterms:W3CDTF">2025-10-11T08:14:11Z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2025-10-11T00:00:00Z</vt:filetime>
  </property>
  <property fmtid="{D5CDD505-2E9C-101B-9397-08002B2CF9AE}" pid="5" name="Producer">
    <vt:lpwstr>Microsoft® Word 2016</vt:lpwstr>
  </property>
</Properties>
</file>